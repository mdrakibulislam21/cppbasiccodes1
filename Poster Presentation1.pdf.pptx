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RAKIBUL ISLAM" initials="MRI" lastIdx="1" clrIdx="0">
    <p:extLst>
      <p:ext uri="{19B8F6BF-5375-455C-9EA6-DF929625EA0E}">
        <p15:presenceInfo xmlns:p15="http://schemas.microsoft.com/office/powerpoint/2012/main" userId="MD RAKIBUL ISLA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60"/>
  </p:normalViewPr>
  <p:slideViewPr>
    <p:cSldViewPr snapToGrid="0">
      <p:cViewPr>
        <p:scale>
          <a:sx n="30" d="100"/>
          <a:sy n="30" d="100"/>
        </p:scale>
        <p:origin x="1806" y="-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4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1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6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5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5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9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5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1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8230A-9150-45AB-AC6D-779B7BD2D51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8E1E4-200F-485E-8E87-AC93D91CE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9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EF6AA-4D93-4F88-9C16-0FBB4B0B3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4" y="61555"/>
            <a:ext cx="3319406" cy="3170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91D795-0222-43A0-B80E-DD29CF2F7318}"/>
              </a:ext>
            </a:extLst>
          </p:cNvPr>
          <p:cNvSpPr txBox="1"/>
          <p:nvPr/>
        </p:nvSpPr>
        <p:spPr>
          <a:xfrm>
            <a:off x="3319406" y="61555"/>
            <a:ext cx="254807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7200" b="1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American International University-Bangladesh (AIUB)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US" sz="54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408/1 (Old KA 66/1), </a:t>
            </a:r>
            <a:r>
              <a:rPr lang="en-US" sz="5400" b="0" i="0" dirty="0" err="1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Kuratoli</a:t>
            </a:r>
            <a:r>
              <a:rPr lang="en-US" sz="54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 , </a:t>
            </a:r>
            <a:r>
              <a:rPr lang="en-US" sz="5400" b="0" i="0" dirty="0" err="1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Khilkhet</a:t>
            </a:r>
            <a:r>
              <a:rPr lang="en-US" sz="54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sz="66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,</a:t>
            </a:r>
            <a:br>
              <a:rPr lang="en-US" sz="6600" dirty="0">
                <a:solidFill>
                  <a:srgbClr val="0070C0"/>
                </a:solidFill>
              </a:rPr>
            </a:br>
            <a:r>
              <a:rPr lang="en-US" sz="4800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Dhaka 1229, Bangladesh</a:t>
            </a:r>
          </a:p>
          <a:p>
            <a:pPr lvl="1"/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F72269-70B1-4580-9592-E520EEE2AFDA}"/>
              </a:ext>
            </a:extLst>
          </p:cNvPr>
          <p:cNvSpPr txBox="1"/>
          <p:nvPr/>
        </p:nvSpPr>
        <p:spPr>
          <a:xfrm>
            <a:off x="-334442" y="6602262"/>
            <a:ext cx="302752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72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 OF THERMODYNAMICS PRINCIPLES IN REFRIGERATION TECHNOLOGY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4D4EA-F7FA-48CE-979E-9B1A3180004A}"/>
              </a:ext>
            </a:extLst>
          </p:cNvPr>
          <p:cNvSpPr txBox="1"/>
          <p:nvPr/>
        </p:nvSpPr>
        <p:spPr>
          <a:xfrm>
            <a:off x="1012372" y="3710188"/>
            <a:ext cx="2805248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i="1" dirty="0">
                <a:solidFill>
                  <a:srgbClr val="192F59"/>
                </a:solidFill>
                <a:latin typeface="Lato" panose="020F0502020204030203" pitchFamily="34" charset="0"/>
              </a:rPr>
              <a:t>PARAG SARKAR JOY                                                                             MD BONY AMIN                                                                                  MD RAKIBUL ISLAM</a:t>
            </a:r>
          </a:p>
          <a:p>
            <a:pPr lvl="1"/>
            <a:r>
              <a:rPr lang="en-US" sz="3200" b="1" i="1" dirty="0">
                <a:solidFill>
                  <a:srgbClr val="192F59"/>
                </a:solidFill>
                <a:latin typeface="Lato" panose="020F0502020204030203" pitchFamily="34" charset="0"/>
              </a:rPr>
              <a:t>      24-56960-1                                                                                                24-56311-1                                                                                                24-56314-1</a:t>
            </a:r>
            <a:r>
              <a:rPr lang="en-US" sz="3600" i="1" dirty="0">
                <a:solidFill>
                  <a:schemeClr val="tx2">
                    <a:lumMod val="75000"/>
                  </a:schemeClr>
                </a:solidFill>
                <a:latin typeface="Lato" panose="020F0502020204030203" pitchFamily="34" charset="0"/>
              </a:rPr>
              <a:t>   </a:t>
            </a:r>
          </a:p>
          <a:p>
            <a:pPr lvl="1"/>
            <a:r>
              <a:rPr lang="en-US" sz="3600" i="1" dirty="0">
                <a:solidFill>
                  <a:schemeClr val="tx2">
                    <a:lumMod val="75000"/>
                  </a:schemeClr>
                </a:solidFill>
                <a:latin typeface="Lato" panose="020F0502020204030203" pitchFamily="34" charset="0"/>
              </a:rPr>
              <a:t>Introduction                                                                                Significance                                                                            Contribution to the Society</a:t>
            </a:r>
          </a:p>
          <a:p>
            <a:pPr lvl="1"/>
            <a:r>
              <a:rPr lang="en-US" sz="3600" i="1" dirty="0">
                <a:solidFill>
                  <a:schemeClr val="tx2">
                    <a:lumMod val="75000"/>
                  </a:schemeClr>
                </a:solidFill>
                <a:latin typeface="Lato" panose="020F0502020204030203" pitchFamily="34" charset="0"/>
              </a:rPr>
              <a:t>Objective                                                                                     Study and Development                                                        Conclusion</a:t>
            </a:r>
          </a:p>
          <a:p>
            <a:pPr lvl="1"/>
            <a:r>
              <a:rPr lang="en-US" sz="3600" i="1" dirty="0">
                <a:solidFill>
                  <a:schemeClr val="tx2">
                    <a:lumMod val="75000"/>
                  </a:schemeClr>
                </a:solidFill>
                <a:latin typeface="Lato" panose="020F0502020204030203" pitchFamily="34" charset="0"/>
              </a:rPr>
              <a:t>Future Scope           </a:t>
            </a:r>
          </a:p>
          <a:p>
            <a:pPr lvl="1"/>
            <a:endParaRPr lang="en-US" sz="3600" b="0" i="1" dirty="0">
              <a:solidFill>
                <a:schemeClr val="tx2">
                  <a:lumMod val="75000"/>
                </a:schemeClr>
              </a:solidFill>
              <a:effectLst/>
              <a:latin typeface="Lato" panose="020F0502020204030203" pitchFamily="34" charset="0"/>
            </a:endParaRPr>
          </a:p>
          <a:p>
            <a:pPr lvl="1"/>
            <a:endParaRPr lang="en-US" sz="3600" b="0" i="1" dirty="0">
              <a:solidFill>
                <a:schemeClr val="tx2">
                  <a:lumMod val="75000"/>
                </a:schemeClr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15F537-3560-43F0-BB4C-1E99AD4775AE}"/>
              </a:ext>
            </a:extLst>
          </p:cNvPr>
          <p:cNvSpPr/>
          <p:nvPr/>
        </p:nvSpPr>
        <p:spPr>
          <a:xfrm>
            <a:off x="16845372" y="1283319"/>
            <a:ext cx="11441526" cy="20755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000" b="1" dirty="0">
                <a:solidFill>
                  <a:schemeClr val="accent6"/>
                </a:solidFill>
              </a:rPr>
              <a:t>Instructor :</a:t>
            </a:r>
            <a:r>
              <a:rPr lang="en-US" sz="4000" b="1" i="0" dirty="0">
                <a:solidFill>
                  <a:schemeClr val="accent6"/>
                </a:solidFill>
                <a:effectLst/>
                <a:latin typeface="Lato" panose="020F0502020204030203" pitchFamily="34" charset="0"/>
              </a:rPr>
              <a:t>TUSAR SAHA</a:t>
            </a:r>
          </a:p>
          <a:p>
            <a:pPr lvl="1"/>
            <a:r>
              <a:rPr lang="en-US" sz="4000" b="0" i="0" dirty="0">
                <a:solidFill>
                  <a:schemeClr val="accent6"/>
                </a:solidFill>
                <a:effectLst/>
                <a:latin typeface="Lato" panose="020F0502020204030203" pitchFamily="34" charset="0"/>
              </a:rPr>
              <a:t> LECTURER, Faculty , DEPARTMENT OF       NATURAL SCIENCE [PHYSICS]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7955A5-1FB2-4C4D-A6D3-9FB702AB3BEC}"/>
              </a:ext>
            </a:extLst>
          </p:cNvPr>
          <p:cNvSpPr/>
          <p:nvPr/>
        </p:nvSpPr>
        <p:spPr>
          <a:xfrm>
            <a:off x="10553209" y="2257767"/>
            <a:ext cx="5778865" cy="1335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PHYSICS</a:t>
            </a:r>
            <a:r>
              <a:rPr lang="en-US" sz="4400" b="1" i="1" dirty="0">
                <a:solidFill>
                  <a:srgbClr val="FF0000"/>
                </a:solidFill>
              </a:rPr>
              <a:t> 2 GROUP 3</a:t>
            </a:r>
          </a:p>
          <a:p>
            <a:pPr algn="ctr"/>
            <a:r>
              <a:rPr lang="en-US" sz="4400" b="1" i="1" dirty="0">
                <a:solidFill>
                  <a:srgbClr val="FF0000"/>
                </a:solidFill>
              </a:rPr>
              <a:t>SEC [CC]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02ACC5-19FE-4953-9D8F-440E537F1F62}"/>
              </a:ext>
            </a:extLst>
          </p:cNvPr>
          <p:cNvSpPr txBox="1"/>
          <p:nvPr/>
        </p:nvSpPr>
        <p:spPr>
          <a:xfrm>
            <a:off x="-1525739" y="18470834"/>
            <a:ext cx="6990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  <a:r>
              <a:rPr lang="en-US" dirty="0"/>
              <a:t>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147D1C-EA4D-4749-A23E-FEE6C1E270E2}"/>
              </a:ext>
            </a:extLst>
          </p:cNvPr>
          <p:cNvSpPr/>
          <p:nvPr/>
        </p:nvSpPr>
        <p:spPr>
          <a:xfrm>
            <a:off x="286140" y="19148769"/>
            <a:ext cx="9447309" cy="5537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Thermodynamics deals with the relationships between heat, work, temperature, and energy . Vapor compression cycle is the foundation of most refrigeration systems . cycle efficiency through innovation can maximize cooling capacity &amp; minimize energy consumption .</a:t>
            </a:r>
          </a:p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1755 William Cullen , Scottish scientist conducted experiments on the cooling effect of evaporation, making an early milestone in refrigeration history.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2FB9A9-6560-4412-830C-2AFBB8ED5541}"/>
              </a:ext>
            </a:extLst>
          </p:cNvPr>
          <p:cNvSpPr txBox="1"/>
          <p:nvPr/>
        </p:nvSpPr>
        <p:spPr>
          <a:xfrm>
            <a:off x="578920" y="24834803"/>
            <a:ext cx="2314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OBJECTIVE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EDE67EB-A79F-4F9B-BB1C-C558D6C19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97" y="9453134"/>
            <a:ext cx="9388315" cy="876254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3799510-0925-4E50-A786-486F27FCD056}"/>
              </a:ext>
            </a:extLst>
          </p:cNvPr>
          <p:cNvSpPr txBox="1"/>
          <p:nvPr/>
        </p:nvSpPr>
        <p:spPr>
          <a:xfrm>
            <a:off x="10311351" y="9730471"/>
            <a:ext cx="15190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SIGNIFICANCE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B2C186-7DFE-4F18-A411-066CCA9720A1}"/>
              </a:ext>
            </a:extLst>
          </p:cNvPr>
          <p:cNvSpPr txBox="1"/>
          <p:nvPr/>
        </p:nvSpPr>
        <p:spPr>
          <a:xfrm>
            <a:off x="10028903" y="10403579"/>
            <a:ext cx="111497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✓ Thermodynamic optimization saves energy. </a:t>
            </a:r>
          </a:p>
          <a:p>
            <a:r>
              <a:rPr lang="en-US" sz="3600" dirty="0"/>
              <a:t>✓ Lower energy consumption saves cost.  </a:t>
            </a:r>
          </a:p>
          <a:p>
            <a:r>
              <a:rPr lang="en-US" sz="3600" dirty="0"/>
              <a:t>✓ enhances system performance.</a:t>
            </a:r>
          </a:p>
          <a:p>
            <a:r>
              <a:rPr lang="en-US" sz="3600" dirty="0"/>
              <a:t>✓ efficient systems minimizes greenhouse gas emissions. </a:t>
            </a:r>
          </a:p>
          <a:p>
            <a:r>
              <a:rPr lang="en-US" sz="3600" dirty="0"/>
              <a:t>✓ Innovation in refrigeration technology opens new business opportunities.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D978FA2-6CDB-432B-ABC7-6349157F1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9530" y="9280625"/>
            <a:ext cx="8047909" cy="1379314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732088A-6F2E-43DF-9B6A-CDA7F6A22B17}"/>
              </a:ext>
            </a:extLst>
          </p:cNvPr>
          <p:cNvSpPr txBox="1"/>
          <p:nvPr/>
        </p:nvSpPr>
        <p:spPr>
          <a:xfrm>
            <a:off x="10553209" y="22456582"/>
            <a:ext cx="5543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STUDY &amp; DEVELOPMENT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B10A5D-26B2-46C3-8D29-1DCE9BD35B23}"/>
              </a:ext>
            </a:extLst>
          </p:cNvPr>
          <p:cNvSpPr txBox="1"/>
          <p:nvPr/>
        </p:nvSpPr>
        <p:spPr>
          <a:xfrm>
            <a:off x="10187637" y="23073769"/>
            <a:ext cx="1090046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❑ Environment Friendly Refrigerants are developed with </a:t>
            </a:r>
          </a:p>
          <a:p>
            <a:r>
              <a:rPr lang="en-US" sz="3600" dirty="0"/>
              <a:t>low Global War Magnetic refrigeration utilizes magnetocaloric materials </a:t>
            </a:r>
          </a:p>
          <a:p>
            <a:r>
              <a:rPr lang="en-US" sz="3600" dirty="0"/>
              <a:t>❑ Magnetic refrigeration utilizes magnetocaloric materials. </a:t>
            </a:r>
          </a:p>
          <a:p>
            <a:r>
              <a:rPr lang="en-US" sz="3600" dirty="0"/>
              <a:t>❑ inverter technology improves energy efficiency. </a:t>
            </a:r>
          </a:p>
          <a:p>
            <a:r>
              <a:rPr lang="en-US" sz="3600" dirty="0"/>
              <a:t>❑ nanofluids and nano-enhanced materials improve heat </a:t>
            </a:r>
          </a:p>
          <a:p>
            <a:r>
              <a:rPr lang="en-US" sz="3600" dirty="0"/>
              <a:t>exchanger performance and system efficiency. </a:t>
            </a:r>
          </a:p>
          <a:p>
            <a:r>
              <a:rPr lang="en-US" sz="3600" dirty="0"/>
              <a:t>❑ real time </a:t>
            </a:r>
            <a:r>
              <a:rPr lang="en-US" sz="3600" dirty="0" err="1"/>
              <a:t>monitoring,predictive</a:t>
            </a:r>
            <a:r>
              <a:rPr lang="en-US" sz="3600" dirty="0"/>
              <a:t> </a:t>
            </a:r>
            <a:r>
              <a:rPr lang="en-US" sz="3600" dirty="0" err="1"/>
              <a:t>maintenance,optimized</a:t>
            </a:r>
            <a:r>
              <a:rPr lang="en-US" sz="3600" dirty="0"/>
              <a:t> </a:t>
            </a:r>
          </a:p>
          <a:p>
            <a:r>
              <a:rPr lang="en-US" sz="3600" dirty="0"/>
              <a:t>performance by IOT technology.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E1EC6A-41B2-4765-BA9F-FC6F10EB74D7}"/>
              </a:ext>
            </a:extLst>
          </p:cNvPr>
          <p:cNvSpPr txBox="1"/>
          <p:nvPr/>
        </p:nvSpPr>
        <p:spPr>
          <a:xfrm>
            <a:off x="21913772" y="23994981"/>
            <a:ext cx="6904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CONTRIBUTION TO THE SOCIETY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18949D-1CB2-4781-9373-CA6B52746EAF}"/>
              </a:ext>
            </a:extLst>
          </p:cNvPr>
          <p:cNvSpPr txBox="1"/>
          <p:nvPr/>
        </p:nvSpPr>
        <p:spPr>
          <a:xfrm>
            <a:off x="21508027" y="24834803"/>
            <a:ext cx="8401306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</a:t>
            </a:r>
            <a:r>
              <a:rPr lang="en-US" sz="3600" dirty="0"/>
              <a:t>➢ reduce food waste.</a:t>
            </a:r>
          </a:p>
          <a:p>
            <a:r>
              <a:rPr lang="en-US" sz="3600" dirty="0"/>
              <a:t> ➢ maintain the nutrition value of foods.</a:t>
            </a:r>
          </a:p>
          <a:p>
            <a:r>
              <a:rPr lang="en-US" sz="3600" dirty="0"/>
              <a:t> ➢ Preserve </a:t>
            </a:r>
            <a:r>
              <a:rPr lang="en-US" sz="3600" err="1"/>
              <a:t>medicines</a:t>
            </a:r>
            <a:r>
              <a:rPr lang="en-US" sz="3600"/>
              <a:t>, vaccines</a:t>
            </a:r>
            <a:r>
              <a:rPr lang="en-US" sz="3600" dirty="0"/>
              <a:t>, organs &amp; tissues.</a:t>
            </a:r>
          </a:p>
          <a:p>
            <a:r>
              <a:rPr lang="en-US" sz="3600" dirty="0"/>
              <a:t> ➢ supports the global food industry, facilitates trade and economic  growth.</a:t>
            </a:r>
          </a:p>
          <a:p>
            <a:r>
              <a:rPr lang="en-US" sz="3600" dirty="0"/>
              <a:t>➢ Enhance food security and combat hunger by extending the shelf life of perishable items.</a:t>
            </a:r>
            <a:br>
              <a:rPr lang="en-US" sz="3600" dirty="0"/>
            </a:br>
            <a:r>
              <a:rPr lang="en-US" sz="3600" dirty="0"/>
              <a:t>➢ Promote sustainability by reducing reliance on excessive production to offset losses from spoilage.</a:t>
            </a:r>
            <a:br>
              <a:rPr lang="en-US" sz="3600" dirty="0"/>
            </a:br>
            <a:r>
              <a:rPr lang="en-US" sz="3600" dirty="0"/>
              <a:t>➢ Ensure safe storage of critical biological samples for research and medical purposes.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1E5F524-F993-4FDD-B2D3-25E7792024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637" y="29595720"/>
            <a:ext cx="11153400" cy="10752019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2B0094B-0A4A-4F9D-8D73-83B320529B6D}"/>
              </a:ext>
            </a:extLst>
          </p:cNvPr>
          <p:cNvSpPr txBox="1"/>
          <p:nvPr/>
        </p:nvSpPr>
        <p:spPr>
          <a:xfrm>
            <a:off x="592517" y="29275899"/>
            <a:ext cx="1517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FUTURE SCOPE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A33294-E847-4498-933D-9733DF6B1DB3}"/>
              </a:ext>
            </a:extLst>
          </p:cNvPr>
          <p:cNvSpPr txBox="1"/>
          <p:nvPr/>
        </p:nvSpPr>
        <p:spPr>
          <a:xfrm>
            <a:off x="230395" y="29808807"/>
            <a:ext cx="9477742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❖High-efficiency refrigerants to improve thermodynamic efficiency.</a:t>
            </a:r>
          </a:p>
          <a:p>
            <a:r>
              <a:rPr lang="en-US" sz="3600" dirty="0"/>
              <a:t> ❖magnetocaloric refrigeration enhanced  thermodynamic cycles.</a:t>
            </a:r>
          </a:p>
          <a:p>
            <a:r>
              <a:rPr lang="en-US" sz="3600" dirty="0"/>
              <a:t>❖Integration with renewable energy sources. ❖Use of nanotechnology and advanced materials &amp; insulation materials.</a:t>
            </a:r>
          </a:p>
          <a:p>
            <a:r>
              <a:rPr lang="en-US" sz="3600" dirty="0"/>
              <a:t>❖ Development of eco-friendly refrigerants with zero ozone depletion potential (ODP) and low global warming potential (GWP).</a:t>
            </a:r>
            <a:br>
              <a:rPr lang="en-US" sz="3600" dirty="0"/>
            </a:br>
            <a:r>
              <a:rPr lang="en-US" sz="3600" dirty="0"/>
              <a:t>❖ Smart refrigeration systems equipped with IoT for real-time monitoring, diagnostics, and energy optimization.</a:t>
            </a:r>
            <a:br>
              <a:rPr lang="en-US" sz="3600" dirty="0"/>
            </a:br>
            <a:r>
              <a:rPr lang="en-US" sz="3600" dirty="0"/>
              <a:t>❖ Application of AI and machine learning for predictive maintenance and process optimization.</a:t>
            </a:r>
            <a:br>
              <a:rPr lang="en-US" sz="3600" dirty="0"/>
            </a:br>
            <a:r>
              <a:rPr lang="en-US" sz="3600" dirty="0"/>
              <a:t>❖ Advancements in cryogenic technology for ultra-low temperature applications.</a:t>
            </a:r>
            <a:br>
              <a:rPr lang="en-US" sz="3600" dirty="0"/>
            </a:br>
            <a:r>
              <a:rPr lang="en-US" sz="3600" dirty="0"/>
              <a:t>❖ Exploration of thermoelectric cooling systems for compact and noiseless refrigeration solutions.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845A89-C18C-4323-BD97-9570AEEE7961}"/>
              </a:ext>
            </a:extLst>
          </p:cNvPr>
          <p:cNvSpPr txBox="1"/>
          <p:nvPr/>
        </p:nvSpPr>
        <p:spPr>
          <a:xfrm>
            <a:off x="21869530" y="33199972"/>
            <a:ext cx="15941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REFERENCES</a:t>
            </a:r>
            <a:r>
              <a:rPr lang="en-US" dirty="0"/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46C5F9-4CE9-4691-9B1B-67B794365A51}"/>
              </a:ext>
            </a:extLst>
          </p:cNvPr>
          <p:cNvSpPr txBox="1"/>
          <p:nvPr/>
        </p:nvSpPr>
        <p:spPr>
          <a:xfrm>
            <a:off x="21639840" y="33961617"/>
            <a:ext cx="82694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✓Wikipedia/</a:t>
            </a:r>
            <a:r>
              <a:rPr lang="en-US" sz="3600" dirty="0" err="1"/>
              <a:t>First_law_of</a:t>
            </a:r>
            <a:r>
              <a:rPr lang="en-US" sz="3600" dirty="0"/>
              <a:t>_ thermodynamics </a:t>
            </a:r>
          </a:p>
          <a:p>
            <a:r>
              <a:rPr lang="en-US" sz="3600" dirty="0"/>
              <a:t>✓Wikipedia/Magnetic_ </a:t>
            </a:r>
            <a:r>
              <a:rPr lang="en-US" sz="3600" dirty="0" err="1"/>
              <a:t>refregeration</a:t>
            </a:r>
            <a:r>
              <a:rPr lang="en-US" sz="3600" dirty="0"/>
              <a:t> ✓Sciencedirect.com/</a:t>
            </a:r>
            <a:r>
              <a:rPr lang="en-US" sz="3600" dirty="0" err="1"/>
              <a:t>refrig</a:t>
            </a:r>
            <a:r>
              <a:rPr lang="en-US" sz="3600" dirty="0"/>
              <a:t> </a:t>
            </a:r>
            <a:r>
              <a:rPr lang="en-US" sz="3600" dirty="0" err="1"/>
              <a:t>eration_cylce</a:t>
            </a:r>
            <a:r>
              <a:rPr lang="en-US" sz="3600" dirty="0"/>
              <a:t> ✓Hvacrnews.com/</a:t>
            </a:r>
            <a:r>
              <a:rPr lang="en-US" sz="3600" dirty="0" err="1"/>
              <a:t>role_of</a:t>
            </a:r>
            <a:r>
              <a:rPr lang="en-US" sz="3600" dirty="0"/>
              <a:t>_ </a:t>
            </a:r>
            <a:r>
              <a:rPr lang="en-US" sz="3600" dirty="0" err="1"/>
              <a:t>refregeration</a:t>
            </a:r>
            <a:r>
              <a:rPr lang="en-US" sz="3600" dirty="0"/>
              <a:t> ✓Powerscientific.com </a:t>
            </a:r>
          </a:p>
          <a:p>
            <a:r>
              <a:rPr lang="en-US" sz="3600" dirty="0"/>
              <a:t>✓Khan Academy/thermodynamics</a:t>
            </a:r>
          </a:p>
          <a:p>
            <a:r>
              <a:rPr lang="en-US" sz="3600" dirty="0"/>
              <a:t> ✓ResearchGate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6413EAF-0EF0-489A-BD97-161F6D029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691" y="14210463"/>
            <a:ext cx="10900464" cy="7721793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84425106-6129-49B7-8691-4D570D00C692}"/>
              </a:ext>
            </a:extLst>
          </p:cNvPr>
          <p:cNvSpPr txBox="1"/>
          <p:nvPr/>
        </p:nvSpPr>
        <p:spPr>
          <a:xfrm>
            <a:off x="741788" y="40545996"/>
            <a:ext cx="19594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tx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892E2F-A226-4032-8994-20389BFBDCF1}"/>
              </a:ext>
            </a:extLst>
          </p:cNvPr>
          <p:cNvSpPr txBox="1"/>
          <p:nvPr/>
        </p:nvSpPr>
        <p:spPr>
          <a:xfrm>
            <a:off x="334057" y="41069080"/>
            <a:ext cx="291357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By applying fundamental thermodynamic principles, engineers have developed more efficient, eco-friendly, and cost-effective refrigeration systems. Overall, leveraging thermodynamics in refrigeration leads to significant societal and environmental benefits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6A5BD-CDF0-48C4-85D6-B6F056414A3B}"/>
              </a:ext>
            </a:extLst>
          </p:cNvPr>
          <p:cNvSpPr txBox="1"/>
          <p:nvPr/>
        </p:nvSpPr>
        <p:spPr>
          <a:xfrm>
            <a:off x="334057" y="25228464"/>
            <a:ext cx="90279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Placeholder Font"/>
              </a:rPr>
              <a:t>Thermodynamics principles are applied in refrigeration technology, focusing on heat transfer mechanisms, Vapor-Compression Cycle, energy efficiency, and refrigerant selection. Applications include domestic, industrial, and cryogenics, aiming to minimize energy consumption.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54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</TotalTime>
  <Words>569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</vt:lpstr>
      <vt:lpstr>Placeholder Font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RAKIBUL ISLAM</dc:creator>
  <cp:lastModifiedBy>MD RAKIBUL ISLAM</cp:lastModifiedBy>
  <cp:revision>32</cp:revision>
  <dcterms:created xsi:type="dcterms:W3CDTF">2025-01-13T13:49:59Z</dcterms:created>
  <dcterms:modified xsi:type="dcterms:W3CDTF">2025-01-14T17:10:19Z</dcterms:modified>
</cp:coreProperties>
</file>